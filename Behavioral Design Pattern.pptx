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1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1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0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78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6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2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5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0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5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2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06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1995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43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62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87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71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5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80C3F-2DB1-4CE7-8182-F5521CE829B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350CB-64F1-42B4-9060-D3960A6F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99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4B8D7-1F34-EBF4-5257-606826C551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Behavioral Design 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A00AB-3049-ED74-A0AF-2544F7A64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3844" y="3285601"/>
            <a:ext cx="1273277" cy="685800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sz="1800" dirty="0"/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20144057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 invX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0217-753C-D44A-6E95-6925A2B2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What is Behavioral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9B433-3B95-C5DB-3FCF-D07A0DC0C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Focuses on </a:t>
            </a:r>
            <a:r>
              <a:rPr lang="en-US" b="1" dirty="0"/>
              <a:t>interaction and communication</a:t>
            </a:r>
            <a:r>
              <a:rPr lang="en-US" dirty="0"/>
              <a:t> between objects</a:t>
            </a:r>
          </a:p>
          <a:p>
            <a:r>
              <a:rPr lang="en-US" dirty="0"/>
              <a:t>Defines </a:t>
            </a:r>
            <a:r>
              <a:rPr lang="en-US" b="1" dirty="0"/>
              <a:t>how responsibilities are shared</a:t>
            </a:r>
            <a:endParaRPr lang="en-US" dirty="0"/>
          </a:p>
          <a:p>
            <a:r>
              <a:rPr lang="en-US" dirty="0"/>
              <a:t>Improves </a:t>
            </a:r>
            <a:r>
              <a:rPr lang="en-US" b="1" dirty="0"/>
              <a:t>flexibility, loose coupling, and maintainability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52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ndAc>
          <p:stSnd>
            <p:snd r:embed="rId2" name="applause.wav"/>
          </p:stSnd>
        </p:sndAc>
      </p:transition>
    </mc:Choice>
    <mc:Fallback>
      <p:transition spd="slow">
        <p:sndAc>
          <p:stSnd>
            <p:snd r:embed="rId2" name="applaus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D61A-29E3-FE05-A978-04B57DF4A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Why Behavioral Design Patterns are needed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C283F0-7DFD-EA08-8785-5DCE8A541E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652351"/>
            <a:ext cx="1139126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avoid complex if–else or switch statements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separate behavior from objects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change behavior at runtime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without modifying existing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 tight coupling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between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follow SOLID principles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(especially Open/Closed Principle)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make code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easy to understand, maintain, and test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handle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communication between objects in a clean way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272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CB3D-FB5B-DF96-80F4-B2126161E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Types of Behavioral Patterns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365300-01B0-664A-ABDE-C8E54E3CD3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698244"/>
            <a:ext cx="555556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Observer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Command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Iterator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Template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Chain of Responsibility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Mediator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Memento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Visitor</a:t>
            </a:r>
          </a:p>
        </p:txBody>
      </p:sp>
    </p:spTree>
    <p:extLst>
      <p:ext uri="{BB962C8B-B14F-4D97-AF65-F5344CB8AC3E}">
        <p14:creationId xmlns:p14="http://schemas.microsoft.com/office/powerpoint/2010/main" val="304129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2413-AC1A-042A-18F0-AB5B3701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1.Strategy Pattern</a:t>
            </a:r>
            <a:br>
              <a:rPr lang="en-US" dirty="0">
                <a:latin typeface="Algerian" panose="04020705040A02060702" pitchFamily="82" charset="0"/>
              </a:rPr>
            </a:br>
            <a:r>
              <a:rPr lang="en-US" sz="2000" dirty="0">
                <a:latin typeface="Algerian" panose="04020705040A02060702" pitchFamily="82" charset="0"/>
              </a:rPr>
              <a:t>(Mostly used)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59E2A2-E34C-B80F-36D7-6BBBF7F916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436908"/>
            <a:ext cx="1016656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Defines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family of algorithms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Encapsulates each behavior in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separate class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Allows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runtime behavior change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composition over inheritance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b="1" dirty="0">
              <a:latin typeface="Arial Black" panose="020B0A040201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Ex : </a:t>
            </a:r>
            <a:r>
              <a:rPr lang="en-US" sz="3200" dirty="0"/>
              <a:t>Choosing different </a:t>
            </a:r>
            <a:r>
              <a:rPr lang="en-US" sz="3200" b="1" dirty="0"/>
              <a:t>payment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200" b="1" dirty="0"/>
              <a:t>                             methods</a:t>
            </a:r>
            <a:r>
              <a:rPr lang="en-US" sz="3200" dirty="0"/>
              <a:t> (Card, UPI, Net Banking)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70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A1BAC9-24CF-6BCB-E0C2-56AF662A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Advantages of Strategy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666C63-4D92-2CEF-3CAC-6BBA37F76CB9}"/>
              </a:ext>
            </a:extLst>
          </p:cNvPr>
          <p:cNvSpPr txBox="1"/>
          <p:nvPr/>
        </p:nvSpPr>
        <p:spPr>
          <a:xfrm>
            <a:off x="835741" y="1956620"/>
            <a:ext cx="1076632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dirty="0"/>
              <a:t>Removes complex conditional statements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dirty="0"/>
              <a:t>Supports Open/Closed Principle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dirty="0"/>
              <a:t>Improves code reusability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dirty="0"/>
              <a:t>Easy to maintain and test</a:t>
            </a:r>
          </a:p>
        </p:txBody>
      </p:sp>
    </p:spTree>
    <p:extLst>
      <p:ext uri="{BB962C8B-B14F-4D97-AF65-F5344CB8AC3E}">
        <p14:creationId xmlns:p14="http://schemas.microsoft.com/office/powerpoint/2010/main" val="1192753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952C-A094-6738-0482-0B54BF2E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2.Observer Pattern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3ADE8-E329-BEFA-0B0B-42F15771AC02}"/>
              </a:ext>
            </a:extLst>
          </p:cNvPr>
          <p:cNvSpPr txBox="1"/>
          <p:nvPr/>
        </p:nvSpPr>
        <p:spPr>
          <a:xfrm>
            <a:off x="685800" y="1877961"/>
            <a:ext cx="1021817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Observer is a </a:t>
            </a:r>
            <a:r>
              <a:rPr lang="en-US" sz="2400" b="1" dirty="0"/>
              <a:t>behavioral design pattern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defines a </a:t>
            </a:r>
            <a:r>
              <a:rPr lang="en-US" sz="2400" b="1" dirty="0"/>
              <a:t>one-to-many relationship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When one object changes state, </a:t>
            </a:r>
            <a:r>
              <a:rPr lang="en-US" sz="2400" b="1" dirty="0"/>
              <a:t>all dependent objects are notified automatically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Helps maintain </a:t>
            </a:r>
            <a:r>
              <a:rPr lang="en-US" sz="2400" b="1" dirty="0"/>
              <a:t>loose coupling</a:t>
            </a:r>
            <a:r>
              <a:rPr lang="en-US" sz="2400" dirty="0"/>
              <a:t> between objects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b="1" dirty="0"/>
              <a:t>Real-life example:</a:t>
            </a:r>
            <a:br>
              <a:rPr lang="en-US" sz="2400" dirty="0"/>
            </a:br>
            <a:r>
              <a:rPr lang="en-US" sz="2400" dirty="0"/>
              <a:t>📢 </a:t>
            </a:r>
            <a:r>
              <a:rPr lang="en-US" sz="2400" b="1" dirty="0"/>
              <a:t>YouTube channel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Channel = Subject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Subscribers = Observers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When video is uploaded → all subscribers get notification</a:t>
            </a:r>
          </a:p>
        </p:txBody>
      </p:sp>
    </p:spTree>
    <p:extLst>
      <p:ext uri="{BB962C8B-B14F-4D97-AF65-F5344CB8AC3E}">
        <p14:creationId xmlns:p14="http://schemas.microsoft.com/office/powerpoint/2010/main" val="3504506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CC060-B5EC-08FC-A440-6348F6510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3.Command Pattern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45C64-5245-1C50-90CF-F3F4B3D83CA0}"/>
              </a:ext>
            </a:extLst>
          </p:cNvPr>
          <p:cNvSpPr txBox="1"/>
          <p:nvPr/>
        </p:nvSpPr>
        <p:spPr>
          <a:xfrm>
            <a:off x="176981" y="1887794"/>
            <a:ext cx="896701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What is Command Pattern?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Command is a </a:t>
            </a:r>
            <a:r>
              <a:rPr lang="en-US" sz="2400" b="1" dirty="0"/>
              <a:t>behavioral design pattern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It converts a </a:t>
            </a:r>
            <a:r>
              <a:rPr lang="en-US" sz="2400" b="1" dirty="0"/>
              <a:t>request into an object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sender does </a:t>
            </a:r>
            <a:r>
              <a:rPr lang="en-US" sz="2400" b="1" dirty="0"/>
              <a:t>not know</a:t>
            </a:r>
            <a:r>
              <a:rPr lang="en-US" sz="2400" dirty="0"/>
              <a:t> how the request is executed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Helps in </a:t>
            </a:r>
            <a:r>
              <a:rPr lang="en-US" sz="2400" b="1" dirty="0"/>
              <a:t>decoupling</a:t>
            </a:r>
            <a:r>
              <a:rPr lang="en-US" sz="2400" dirty="0"/>
              <a:t> sender and receiver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Remote Control :</a:t>
            </a:r>
            <a:endParaRPr lang="en-US" sz="2400" dirty="0"/>
          </a:p>
          <a:p>
            <a:r>
              <a:rPr lang="en-US" sz="2400" dirty="0"/>
              <a:t>Button = Command</a:t>
            </a:r>
          </a:p>
          <a:p>
            <a:r>
              <a:rPr lang="en-US" sz="2400" dirty="0"/>
              <a:t>TV / Light = Receiver</a:t>
            </a:r>
          </a:p>
          <a:p>
            <a:r>
              <a:rPr lang="en-US" sz="2400" dirty="0"/>
              <a:t>Remote = Invoker</a:t>
            </a:r>
          </a:p>
          <a:p>
            <a:pPr algn="r"/>
            <a:r>
              <a:rPr lang="en-US" sz="2400" b="1" dirty="0"/>
              <a:t>When you press a button:</a:t>
            </a:r>
          </a:p>
          <a:p>
            <a:pPr algn="r"/>
            <a:r>
              <a:rPr lang="en-US" sz="2000" dirty="0"/>
              <a:t>You don’t know </a:t>
            </a:r>
            <a:r>
              <a:rPr lang="en-US" sz="2000" b="1" dirty="0"/>
              <a:t>how</a:t>
            </a:r>
            <a:r>
              <a:rPr lang="en-US" sz="2000" dirty="0"/>
              <a:t> the TV turns ON</a:t>
            </a:r>
          </a:p>
          <a:p>
            <a:pPr algn="r"/>
            <a:r>
              <a:rPr lang="en-US" sz="2000" dirty="0"/>
              <a:t>You only send a </a:t>
            </a:r>
            <a:r>
              <a:rPr lang="en-US" sz="2000" b="1" dirty="0"/>
              <a:t>command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85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8CAB1-34D3-799A-2D78-9CC58D767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4.State Pattern</a:t>
            </a:r>
            <a:r>
              <a:rPr lang="en-US" dirty="0">
                <a:latin typeface="Algerian" panose="04020705040A02060702" pitchFamily="8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6FCBE7-FB58-48D2-F2C4-DADEDC2CCB1E}"/>
              </a:ext>
            </a:extLst>
          </p:cNvPr>
          <p:cNvSpPr txBox="1"/>
          <p:nvPr/>
        </p:nvSpPr>
        <p:spPr>
          <a:xfrm>
            <a:off x="304800" y="1927123"/>
            <a:ext cx="88392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State is a </a:t>
            </a:r>
            <a:r>
              <a:rPr lang="en-US" sz="2400" b="1" dirty="0"/>
              <a:t>behavioral design pattern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Object behavior changes </a:t>
            </a:r>
            <a:r>
              <a:rPr lang="en-US" sz="2400" b="1" dirty="0"/>
              <a:t>based on its state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State-specific behavior is moved into </a:t>
            </a:r>
            <a:r>
              <a:rPr lang="en-US" sz="2400" b="1" dirty="0"/>
              <a:t>separate classes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Removes large if–else or switch statements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ATM Machine :</a:t>
            </a:r>
            <a:endParaRPr lang="en-US" dirty="0"/>
          </a:p>
          <a:p>
            <a:r>
              <a:rPr lang="en-US" dirty="0"/>
              <a:t>States:</a:t>
            </a:r>
          </a:p>
          <a:p>
            <a:pPr lvl="1"/>
            <a:r>
              <a:rPr lang="en-US" dirty="0"/>
              <a:t>No Card</a:t>
            </a:r>
          </a:p>
          <a:p>
            <a:pPr lvl="1"/>
            <a:r>
              <a:rPr lang="en-US" dirty="0"/>
              <a:t>Card Inserted</a:t>
            </a:r>
          </a:p>
          <a:p>
            <a:pPr lvl="1"/>
            <a:r>
              <a:rPr lang="en-US" dirty="0"/>
              <a:t>PIN Entered</a:t>
            </a:r>
          </a:p>
          <a:p>
            <a:pPr lvl="1"/>
            <a:r>
              <a:rPr lang="en-US" dirty="0"/>
              <a:t>Cash Dispensed</a:t>
            </a:r>
          </a:p>
          <a:p>
            <a:r>
              <a:rPr lang="en-US" dirty="0"/>
              <a:t>ATM behavior changes </a:t>
            </a:r>
            <a:r>
              <a:rPr lang="en-US" b="1" dirty="0"/>
              <a:t>based on current state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620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EF83-7CC2-1015-0ECD-6E210803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5.Iterator Pattern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3EBFB-A48C-1F6B-F956-CB8CD331F6D8}"/>
              </a:ext>
            </a:extLst>
          </p:cNvPr>
          <p:cNvSpPr txBox="1"/>
          <p:nvPr/>
        </p:nvSpPr>
        <p:spPr>
          <a:xfrm>
            <a:off x="324465" y="1750142"/>
            <a:ext cx="8819535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What is Iterator Pattern?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Iterator is a </a:t>
            </a:r>
            <a:r>
              <a:rPr lang="en-US" sz="2000" b="1" dirty="0"/>
              <a:t>behavioral design pattern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It provides a way to </a:t>
            </a:r>
            <a:r>
              <a:rPr lang="en-US" sz="2000" b="1" dirty="0"/>
              <a:t>access elements sequentially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Does </a:t>
            </a:r>
            <a:r>
              <a:rPr lang="en-US" sz="2000" b="1" dirty="0"/>
              <a:t>not expose internal structure</a:t>
            </a:r>
            <a:r>
              <a:rPr lang="en-US" sz="2000" dirty="0"/>
              <a:t> of the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Gives a </a:t>
            </a:r>
            <a:r>
              <a:rPr lang="en-US" sz="2000" b="1" dirty="0"/>
              <a:t>standard way to traverse</a:t>
            </a:r>
            <a:r>
              <a:rPr lang="en-US" sz="2000" dirty="0"/>
              <a:t> collections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800" b="1" dirty="0"/>
              <a:t>Simple Use Case</a:t>
            </a:r>
          </a:p>
          <a:p>
            <a:endParaRPr lang="en-US" b="1" dirty="0"/>
          </a:p>
          <a:p>
            <a:r>
              <a:rPr lang="en-US" b="1" dirty="0"/>
              <a:t>Traversing a List</a:t>
            </a:r>
            <a:endParaRPr lang="en-US" dirty="0"/>
          </a:p>
          <a:p>
            <a:r>
              <a:rPr lang="en-US" dirty="0"/>
              <a:t>You want to loop through a collection</a:t>
            </a:r>
          </a:p>
          <a:p>
            <a:r>
              <a:rPr lang="en-US" dirty="0"/>
              <a:t>You don’t care how data is stored internally</a:t>
            </a:r>
          </a:p>
          <a:p>
            <a:r>
              <a:rPr lang="en-US" dirty="0"/>
              <a:t>You just use an iterator to move element by element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79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8C79-22AB-D214-D2EF-832E2440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6.Template Method Pattern</a:t>
            </a:r>
            <a:r>
              <a:rPr lang="en-US" dirty="0">
                <a:latin typeface="Algerian" panose="04020705040A02060702" pitchFamily="8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E3A8F-3768-1CB1-829C-A604F5864D4C}"/>
              </a:ext>
            </a:extLst>
          </p:cNvPr>
          <p:cNvSpPr txBox="1"/>
          <p:nvPr/>
        </p:nvSpPr>
        <p:spPr>
          <a:xfrm>
            <a:off x="167148" y="1759974"/>
            <a:ext cx="897685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What is Template Method Pattern?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Template Method is a </a:t>
            </a:r>
            <a:r>
              <a:rPr lang="en-US" b="1" dirty="0"/>
              <a:t>behavioral design pattern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defines the </a:t>
            </a:r>
            <a:r>
              <a:rPr lang="en-US" b="1" dirty="0"/>
              <a:t>steps of an algorithm</a:t>
            </a:r>
            <a:r>
              <a:rPr lang="en-US" dirty="0"/>
              <a:t> in a base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steps are </a:t>
            </a:r>
            <a:r>
              <a:rPr lang="en-US" b="1" dirty="0"/>
              <a:t>implemented by subclasses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Algorithm structure remains </a:t>
            </a:r>
            <a:r>
              <a:rPr lang="en-US" b="1" dirty="0"/>
              <a:t>unchanged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sz="2800" b="1" dirty="0"/>
              <a:t>Simple Use Case :</a:t>
            </a:r>
          </a:p>
          <a:p>
            <a:endParaRPr lang="en-US" b="1" dirty="0"/>
          </a:p>
          <a:p>
            <a:r>
              <a:rPr lang="en-US" b="1" dirty="0"/>
              <a:t>Cooking Recipe</a:t>
            </a:r>
            <a:endParaRPr lang="en-US" dirty="0"/>
          </a:p>
          <a:p>
            <a:r>
              <a:rPr lang="en-US" dirty="0"/>
              <a:t>Steps like boil, cook, serve are fixed</a:t>
            </a:r>
          </a:p>
          <a:p>
            <a:r>
              <a:rPr lang="en-US" dirty="0"/>
              <a:t>Ingredients and cooking style may change</a:t>
            </a:r>
          </a:p>
          <a:p>
            <a:r>
              <a:rPr lang="en-US" dirty="0"/>
              <a:t>Subclasses customize specific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479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BD343-0526-05CD-0431-4A59FC14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7.Chain of Responsibility Pattern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49A09-BEA6-27D1-47E8-A0A877D60847}"/>
              </a:ext>
            </a:extLst>
          </p:cNvPr>
          <p:cNvSpPr txBox="1"/>
          <p:nvPr/>
        </p:nvSpPr>
        <p:spPr>
          <a:xfrm>
            <a:off x="685800" y="1946788"/>
            <a:ext cx="8947355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What is Chain of Responsibility?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a </a:t>
            </a:r>
            <a:r>
              <a:rPr lang="en-US" b="1" dirty="0"/>
              <a:t>behavioral design pattern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request is passed through a </a:t>
            </a:r>
            <a:r>
              <a:rPr lang="en-US" b="1" dirty="0"/>
              <a:t>chain of handlers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handler decides to </a:t>
            </a:r>
            <a:r>
              <a:rPr lang="en-US" b="1" dirty="0"/>
              <a:t>process or pass</a:t>
            </a:r>
            <a:r>
              <a:rPr lang="en-US" dirty="0"/>
              <a:t> the request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Sender does not know </a:t>
            </a:r>
            <a:r>
              <a:rPr lang="en-US" b="1" dirty="0"/>
              <a:t>which handler</a:t>
            </a:r>
            <a:r>
              <a:rPr lang="en-US" dirty="0"/>
              <a:t> will handle it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800" b="1" dirty="0"/>
              <a:t>Simple Use Case</a:t>
            </a:r>
          </a:p>
          <a:p>
            <a:endParaRPr lang="en-US" b="1" dirty="0"/>
          </a:p>
          <a:p>
            <a:r>
              <a:rPr lang="en-US" b="1" dirty="0"/>
              <a:t>Customer Support System</a:t>
            </a:r>
            <a:endParaRPr lang="en-US" dirty="0"/>
          </a:p>
          <a:p>
            <a:r>
              <a:rPr lang="en-US" dirty="0"/>
              <a:t>Level 1 → Basic support</a:t>
            </a:r>
          </a:p>
          <a:p>
            <a:r>
              <a:rPr lang="en-US" dirty="0"/>
              <a:t>Level 2 → Technical support</a:t>
            </a:r>
          </a:p>
          <a:p>
            <a:r>
              <a:rPr lang="en-US" dirty="0"/>
              <a:t>Level 3 → Manager</a:t>
            </a:r>
          </a:p>
          <a:p>
            <a:r>
              <a:rPr lang="en-US" dirty="0"/>
              <a:t>Request moves through levels until handled.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911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517D-0323-335B-5D75-CFA6617F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5.Conclusion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FCB2BB3-E6C6-A5C2-C041-053995DAA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762" y="2459504"/>
            <a:ext cx="1168621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Behavioral Design Patterns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 on how objects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behave and communicate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 help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 tight coupling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between objects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flexibility, readability, and maintainability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Allow behavior to be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changed at runtime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Commonly used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real-world and enterprise applications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7705339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77</TotalTime>
  <Words>603</Words>
  <Application>Microsoft Office PowerPoint</Application>
  <PresentationFormat>Widescreen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Arial Black</vt:lpstr>
      <vt:lpstr>Century Gothic</vt:lpstr>
      <vt:lpstr>Wingdings</vt:lpstr>
      <vt:lpstr>Vapor Trail</vt:lpstr>
      <vt:lpstr>Behavioral Design Pattern</vt:lpstr>
      <vt:lpstr>What is Behavioral Design Pattern</vt:lpstr>
      <vt:lpstr>Why Behavioral Design Patterns are needed</vt:lpstr>
      <vt:lpstr>Types of Behavioral Patterns </vt:lpstr>
      <vt:lpstr>1.Strategy Pattern (Mostly used)</vt:lpstr>
      <vt:lpstr>Advantages of Strategy Pattern</vt:lpstr>
      <vt:lpstr>2.Observer Pattern </vt:lpstr>
      <vt:lpstr>3.Command Pattern</vt:lpstr>
      <vt:lpstr>4.State Pattern </vt:lpstr>
      <vt:lpstr>5.Iterator Pattern</vt:lpstr>
      <vt:lpstr>6.Template Method Pattern </vt:lpstr>
      <vt:lpstr>7.Chain of Responsibility Pattern</vt:lpstr>
      <vt:lpstr>5.Conclusion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Kunuthuru</dc:creator>
  <cp:lastModifiedBy>Vijay Kunuthuru</cp:lastModifiedBy>
  <cp:revision>3</cp:revision>
  <dcterms:created xsi:type="dcterms:W3CDTF">2026-01-13T06:06:10Z</dcterms:created>
  <dcterms:modified xsi:type="dcterms:W3CDTF">2026-01-13T07:23:20Z</dcterms:modified>
</cp:coreProperties>
</file>